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72" r:id="rId4"/>
    <p:sldId id="273" r:id="rId5"/>
    <p:sldId id="271" r:id="rId6"/>
    <p:sldId id="260" r:id="rId7"/>
    <p:sldId id="261" r:id="rId8"/>
    <p:sldId id="262" r:id="rId9"/>
    <p:sldId id="275" r:id="rId10"/>
    <p:sldId id="320" r:id="rId11"/>
    <p:sldId id="321" r:id="rId12"/>
    <p:sldId id="276" r:id="rId13"/>
    <p:sldId id="280" r:id="rId14"/>
    <p:sldId id="323" r:id="rId15"/>
    <p:sldId id="278" r:id="rId16"/>
    <p:sldId id="328" r:id="rId17"/>
    <p:sldId id="329" r:id="rId18"/>
    <p:sldId id="330" r:id="rId19"/>
    <p:sldId id="331" r:id="rId20"/>
    <p:sldId id="281" r:id="rId21"/>
    <p:sldId id="287" r:id="rId22"/>
    <p:sldId id="286" r:id="rId23"/>
    <p:sldId id="291" r:id="rId24"/>
    <p:sldId id="288" r:id="rId25"/>
    <p:sldId id="289" r:id="rId26"/>
    <p:sldId id="293" r:id="rId27"/>
    <p:sldId id="295" r:id="rId28"/>
    <p:sldId id="324" r:id="rId29"/>
    <p:sldId id="301" r:id="rId30"/>
    <p:sldId id="302" r:id="rId31"/>
    <p:sldId id="327" r:id="rId32"/>
    <p:sldId id="332" r:id="rId33"/>
    <p:sldId id="325" r:id="rId34"/>
    <p:sldId id="306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13" r:id="rId43"/>
    <p:sldId id="340" r:id="rId44"/>
    <p:sldId id="343" r:id="rId45"/>
    <p:sldId id="341" r:id="rId46"/>
    <p:sldId id="344" r:id="rId47"/>
    <p:sldId id="342" r:id="rId48"/>
    <p:sldId id="345" r:id="rId49"/>
    <p:sldId id="346" r:id="rId50"/>
    <p:sldId id="266" r:id="rId51"/>
  </p:sldIdLst>
  <p:sldSz cx="9144000" cy="5143500" type="screen16x9"/>
  <p:notesSz cx="6858000" cy="9144000"/>
  <p:embeddedFontLst>
    <p:embeddedFont>
      <p:font typeface="华文新魏" panose="02010800040101010101" pitchFamily="2" charset="-122"/>
      <p:regular r:id="rId55"/>
    </p:embeddedFont>
    <p:embeddedFont>
      <p:font typeface="Informal Roman" panose="030604020304060B0204" pitchFamily="66" charset="0"/>
      <p:regular r:id="rId56"/>
    </p:embeddedFont>
    <p:embeddedFont>
      <p:font typeface="Indeal Pro 1.23" panose="020B0604030504040204" pitchFamily="34" charset="0"/>
      <p:regular r:id="rId57"/>
    </p:embeddedFont>
    <p:embeddedFont>
      <p:font typeface="方正毡笔黑简体" panose="03000509000000000000" pitchFamily="65" charset="-122"/>
      <p:regular r:id="rId58"/>
    </p:embeddedFont>
    <p:embeddedFont>
      <p:font typeface="微软雅黑" panose="020B0503020204020204" pitchFamily="34" charset="-122"/>
      <p:regular r:id="rId59"/>
      <p:bold r:id="rId6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FFFF99"/>
    <a:srgbClr val="FF99FF"/>
    <a:srgbClr val="FF2FFF"/>
    <a:srgbClr val="808080"/>
    <a:srgbClr val="FFFF65"/>
    <a:srgbClr val="FFF0C1"/>
    <a:srgbClr val="FFEDB3"/>
    <a:srgbClr val="FFD24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>
        <p:scale>
          <a:sx n="106" d="100"/>
          <a:sy n="106" d="100"/>
        </p:scale>
        <p:origin x="-924" y="-192"/>
      </p:cViewPr>
      <p:guideLst>
        <p:guide orient="horz" pos="1620"/>
        <p:guide orient="horz" pos="2074"/>
        <p:guide pos="2880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font" Target="fonts/font6.fntdata"/><Relationship Id="rId6" Type="http://schemas.openxmlformats.org/officeDocument/2006/relationships/slide" Target="slides/slide4.xml"/><Relationship Id="rId59" Type="http://schemas.openxmlformats.org/officeDocument/2006/relationships/font" Target="fonts/font5.fntdata"/><Relationship Id="rId58" Type="http://schemas.openxmlformats.org/officeDocument/2006/relationships/font" Target="fonts/font4.fntdata"/><Relationship Id="rId57" Type="http://schemas.openxmlformats.org/officeDocument/2006/relationships/font" Target="fonts/font3.fntdata"/><Relationship Id="rId56" Type="http://schemas.openxmlformats.org/officeDocument/2006/relationships/font" Target="fonts/font2.fntdata"/><Relationship Id="rId55" Type="http://schemas.openxmlformats.org/officeDocument/2006/relationships/font" Target="fonts/font1.fntdata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.jpg"/>
          <p:cNvPicPr>
            <a:picLocks noChangeAspect="1"/>
          </p:cNvPicPr>
          <p:nvPr userDrawn="1"/>
        </p:nvPicPr>
        <p:blipFill>
          <a:blip r:embed="rId2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8" name="图片 7" descr="黑板-空.png"/>
          <p:cNvPicPr>
            <a:picLocks noChangeAspect="1"/>
          </p:cNvPicPr>
          <p:nvPr userDrawn="1"/>
        </p:nvPicPr>
        <p:blipFill>
          <a:blip r:embed="rId3" cstate="print"/>
          <a:srcRect l="19395" t="4956" b="17785"/>
          <a:stretch>
            <a:fillRect/>
          </a:stretch>
        </p:blipFill>
        <p:spPr>
          <a:xfrm>
            <a:off x="269776" y="23895"/>
            <a:ext cx="8604449" cy="4580157"/>
          </a:xfrm>
          <a:prstGeom prst="rect">
            <a:avLst/>
          </a:prstGeom>
        </p:spPr>
      </p:pic>
      <p:pic>
        <p:nvPicPr>
          <p:cNvPr id="9" name="图片 8" descr="叶子.png"/>
          <p:cNvPicPr>
            <a:picLocks noChangeAspect="1"/>
          </p:cNvPicPr>
          <p:nvPr userDrawn="1"/>
        </p:nvPicPr>
        <p:blipFill>
          <a:blip r:embed="rId4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pic>
        <p:nvPicPr>
          <p:cNvPr id="10" name="图片 9" descr="桌子.png"/>
          <p:cNvPicPr>
            <a:picLocks noChangeAspect="1"/>
          </p:cNvPicPr>
          <p:nvPr userDrawn="1"/>
        </p:nvPicPr>
        <p:blipFill>
          <a:blip r:embed="rId5" cstate="print"/>
          <a:srcRect t="80530" r="40938"/>
          <a:stretch>
            <a:fillRect/>
          </a:stretch>
        </p:blipFill>
        <p:spPr>
          <a:xfrm>
            <a:off x="-36512" y="4294870"/>
            <a:ext cx="3960440" cy="848630"/>
          </a:xfrm>
          <a:prstGeom prst="rect">
            <a:avLst/>
          </a:prstGeom>
        </p:spPr>
      </p:pic>
      <p:pic>
        <p:nvPicPr>
          <p:cNvPr id="11" name="图片 10" descr="粉笔画.png"/>
          <p:cNvPicPr>
            <a:picLocks noChangeAspect="1"/>
          </p:cNvPicPr>
          <p:nvPr userDrawn="1"/>
        </p:nvPicPr>
        <p:blipFill>
          <a:blip r:embed="rId6" cstate="print"/>
          <a:srcRect l="49934" t="39179" b="17915"/>
          <a:stretch>
            <a:fillRect/>
          </a:stretch>
        </p:blipFill>
        <p:spPr>
          <a:xfrm>
            <a:off x="5184068" y="2537826"/>
            <a:ext cx="3357242" cy="1870128"/>
          </a:xfrm>
          <a:prstGeom prst="rect">
            <a:avLst/>
          </a:prstGeom>
        </p:spPr>
      </p:pic>
      <p:pic>
        <p:nvPicPr>
          <p:cNvPr id="12" name="图片 11" descr="书本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431540" y="4011910"/>
            <a:ext cx="1053034" cy="900000"/>
          </a:xfrm>
          <a:prstGeom prst="rect">
            <a:avLst/>
          </a:prstGeom>
        </p:spPr>
      </p:pic>
      <p:pic>
        <p:nvPicPr>
          <p:cNvPr id="13" name="图片 12" descr="钟.PN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862386" y="4272318"/>
            <a:ext cx="536449" cy="512065"/>
          </a:xfrm>
          <a:prstGeom prst="rect">
            <a:avLst/>
          </a:prstGeom>
        </p:spPr>
      </p:pic>
      <p:pic>
        <p:nvPicPr>
          <p:cNvPr id="14" name="图片 13" descr="铅笔筒.PN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420426" y="4031525"/>
            <a:ext cx="710185" cy="768098"/>
          </a:xfrm>
          <a:prstGeom prst="rect">
            <a:avLst/>
          </a:prstGeom>
        </p:spPr>
      </p:pic>
      <p:pic>
        <p:nvPicPr>
          <p:cNvPr id="15" name="图片 14" descr="眼镜.PN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2598136" y="4658383"/>
            <a:ext cx="546415" cy="252000"/>
          </a:xfrm>
          <a:prstGeom prst="rect">
            <a:avLst/>
          </a:prstGeom>
        </p:spPr>
      </p:pic>
      <p:pic>
        <p:nvPicPr>
          <p:cNvPr id="19" name="图片 18" descr="贴贴子4张（空）.png"/>
          <p:cNvPicPr>
            <a:picLocks noChangeAspect="1"/>
          </p:cNvPicPr>
          <p:nvPr/>
        </p:nvPicPr>
        <p:blipFill>
          <a:blip r:embed="rId11" cstate="print"/>
          <a:srcRect t="33018" r="77449" b="52860"/>
          <a:stretch>
            <a:fillRect/>
          </a:stretch>
        </p:blipFill>
        <p:spPr>
          <a:xfrm>
            <a:off x="728490" y="483518"/>
            <a:ext cx="1512168" cy="615496"/>
          </a:xfrm>
          <a:prstGeom prst="rect">
            <a:avLst/>
          </a:prstGeom>
        </p:spPr>
      </p:pic>
      <p:pic>
        <p:nvPicPr>
          <p:cNvPr id="21" name="图片 20" descr="贴贴子4张（空）.png"/>
          <p:cNvPicPr/>
          <p:nvPr/>
        </p:nvPicPr>
        <p:blipFill>
          <a:blip r:embed="rId11" cstate="print"/>
          <a:srcRect l="6702" t="47905" r="86794" b="38897"/>
          <a:stretch>
            <a:fillRect/>
          </a:stretch>
        </p:blipFill>
        <p:spPr>
          <a:xfrm rot="21420000">
            <a:off x="2000565" y="731480"/>
            <a:ext cx="432000" cy="592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.jpg"/>
          <p:cNvPicPr>
            <a:picLocks noChangeAspect="1"/>
          </p:cNvPicPr>
          <p:nvPr userDrawn="1"/>
        </p:nvPicPr>
        <p:blipFill>
          <a:blip r:embed="rId2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8" name="图片 7" descr="黑板-空.png"/>
          <p:cNvPicPr/>
          <p:nvPr userDrawn="1"/>
        </p:nvPicPr>
        <p:blipFill>
          <a:blip r:embed="rId3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10" name="图片 9" descr="照片夹.png"/>
          <p:cNvPicPr>
            <a:picLocks noChangeAspect="1"/>
          </p:cNvPicPr>
          <p:nvPr userDrawn="1"/>
        </p:nvPicPr>
        <p:blipFill>
          <a:blip r:embed="rId4" cstate="print"/>
          <a:srcRect r="66645" b="79232"/>
          <a:stretch>
            <a:fillRect/>
          </a:stretch>
        </p:blipFill>
        <p:spPr>
          <a:xfrm flipH="1">
            <a:off x="4860032" y="-372337"/>
            <a:ext cx="4664304" cy="18876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.jpg"/>
          <p:cNvPicPr>
            <a:picLocks noChangeAspect="1"/>
          </p:cNvPicPr>
          <p:nvPr userDrawn="1"/>
        </p:nvPicPr>
        <p:blipFill>
          <a:blip r:embed="rId2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8" name="图片 7" descr="黑板-空.png"/>
          <p:cNvPicPr/>
          <p:nvPr userDrawn="1"/>
        </p:nvPicPr>
        <p:blipFill>
          <a:blip r:embed="rId3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9" name="图片 8" descr="叶子.png"/>
          <p:cNvPicPr>
            <a:picLocks noChangeAspect="1"/>
          </p:cNvPicPr>
          <p:nvPr userDrawn="1"/>
        </p:nvPicPr>
        <p:blipFill>
          <a:blip r:embed="rId4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A453-1E8F-4D06-9CF2-B832E33BC1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310C-15A3-48E8-8852-003B1EFFFCB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黑板-空.png"/>
          <p:cNvPicPr/>
          <p:nvPr userDrawn="1"/>
        </p:nvPicPr>
        <p:blipFill>
          <a:blip r:embed="rId2" cstate="print"/>
          <a:srcRect l="27894" t="16016" r="10599" b="2953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图片 6" descr="叶子.png"/>
          <p:cNvPicPr>
            <a:picLocks noChangeAspect="1"/>
          </p:cNvPicPr>
          <p:nvPr userDrawn="1"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A453-1E8F-4D06-9CF2-B832E33BC1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310C-15A3-48E8-8852-003B1EFFFC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A453-1E8F-4D06-9CF2-B832E33BC1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1310C-15A3-48E8-8852-003B1EFFFCB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背景.jpg"/>
          <p:cNvPicPr>
            <a:picLocks noChangeAspect="1"/>
          </p:cNvPicPr>
          <p:nvPr userDrawn="1"/>
        </p:nvPicPr>
        <p:blipFill>
          <a:blip r:embed="rId2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6" name="图片 5" descr="黑板-空.png"/>
          <p:cNvPicPr/>
          <p:nvPr userDrawn="1"/>
        </p:nvPicPr>
        <p:blipFill>
          <a:blip r:embed="rId3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8" name="图片 7" descr="照片夹.png"/>
          <p:cNvPicPr>
            <a:picLocks noChangeAspect="1"/>
          </p:cNvPicPr>
          <p:nvPr userDrawn="1"/>
        </p:nvPicPr>
        <p:blipFill>
          <a:blip r:embed="rId4" cstate="print"/>
          <a:srcRect r="66645" b="79232"/>
          <a:stretch>
            <a:fillRect/>
          </a:stretch>
        </p:blipFill>
        <p:spPr>
          <a:xfrm flipH="1">
            <a:off x="4860032" y="-372337"/>
            <a:ext cx="4664304" cy="18876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2A453-1E8F-4D06-9CF2-B832E33BC1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1310C-15A3-48E8-8852-003B1EFFFC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6" name="图片 5" descr="黑板-空.png"/>
          <p:cNvPicPr>
            <a:picLocks noChangeAspect="1"/>
          </p:cNvPicPr>
          <p:nvPr/>
        </p:nvPicPr>
        <p:blipFill>
          <a:blip r:embed="rId2" cstate="print"/>
          <a:srcRect l="19395" t="4956" b="17785"/>
          <a:stretch>
            <a:fillRect/>
          </a:stretch>
        </p:blipFill>
        <p:spPr>
          <a:xfrm>
            <a:off x="269776" y="23895"/>
            <a:ext cx="8604449" cy="4580157"/>
          </a:xfrm>
          <a:prstGeom prst="rect">
            <a:avLst/>
          </a:prstGeom>
        </p:spPr>
      </p:pic>
      <p:pic>
        <p:nvPicPr>
          <p:cNvPr id="8" name="图片 7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pic>
        <p:nvPicPr>
          <p:cNvPr id="16" name="图片 15" descr="桌子.png"/>
          <p:cNvPicPr>
            <a:picLocks noChangeAspect="1"/>
          </p:cNvPicPr>
          <p:nvPr/>
        </p:nvPicPr>
        <p:blipFill>
          <a:blip r:embed="rId4" cstate="print"/>
          <a:srcRect t="80530" r="40938"/>
          <a:stretch>
            <a:fillRect/>
          </a:stretch>
        </p:blipFill>
        <p:spPr>
          <a:xfrm>
            <a:off x="-36512" y="4294870"/>
            <a:ext cx="3960440" cy="848630"/>
          </a:xfrm>
          <a:prstGeom prst="rect">
            <a:avLst/>
          </a:prstGeom>
        </p:spPr>
      </p:pic>
      <p:pic>
        <p:nvPicPr>
          <p:cNvPr id="17" name="图片 16" descr="粉笔画.png"/>
          <p:cNvPicPr>
            <a:picLocks noChangeAspect="1"/>
          </p:cNvPicPr>
          <p:nvPr/>
        </p:nvPicPr>
        <p:blipFill>
          <a:blip r:embed="rId5" cstate="print"/>
          <a:srcRect l="49934" t="39179" b="17915"/>
          <a:stretch>
            <a:fillRect/>
          </a:stretch>
        </p:blipFill>
        <p:spPr>
          <a:xfrm>
            <a:off x="5184068" y="2537826"/>
            <a:ext cx="3357242" cy="1870128"/>
          </a:xfrm>
          <a:prstGeom prst="rect">
            <a:avLst/>
          </a:prstGeom>
        </p:spPr>
      </p:pic>
      <p:pic>
        <p:nvPicPr>
          <p:cNvPr id="12" name="图片 11" descr="书本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1540" y="4011910"/>
            <a:ext cx="1053034" cy="900000"/>
          </a:xfrm>
          <a:prstGeom prst="rect">
            <a:avLst/>
          </a:prstGeom>
        </p:spPr>
      </p:pic>
      <p:pic>
        <p:nvPicPr>
          <p:cNvPr id="15" name="图片 14" descr="钟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62386" y="4272318"/>
            <a:ext cx="536449" cy="512065"/>
          </a:xfrm>
          <a:prstGeom prst="rect">
            <a:avLst/>
          </a:prstGeom>
        </p:spPr>
      </p:pic>
      <p:pic>
        <p:nvPicPr>
          <p:cNvPr id="11" name="图片 10" descr="铅笔筒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20426" y="4031525"/>
            <a:ext cx="710185" cy="768098"/>
          </a:xfrm>
          <a:prstGeom prst="rect">
            <a:avLst/>
          </a:prstGeom>
        </p:spPr>
      </p:pic>
      <p:pic>
        <p:nvPicPr>
          <p:cNvPr id="14" name="图片 13" descr="眼镜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98136" y="4658383"/>
            <a:ext cx="546415" cy="252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 rot="21311365">
            <a:off x="2711506" y="1486286"/>
            <a:ext cx="36327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Linux</a:t>
            </a:r>
            <a:r>
              <a:rPr lang="zh-CN" altLang="en-US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系统编程</a:t>
            </a:r>
            <a:endParaRPr lang="zh-CN" altLang="en-US" sz="4400" b="0" cap="none" spc="0" dirty="0">
              <a:ln w="18415" cmpd="sng">
                <a:solidFill>
                  <a:srgbClr val="FFFFFF"/>
                </a:solidFill>
                <a:prstDash val="solid"/>
              </a:ln>
              <a:blipFill dpi="0" rotWithShape="1">
                <a:blip r:embed="rId10">
                  <a:alphaModFix amt="80000"/>
                </a:blip>
                <a:srcRect/>
                <a:tile tx="0" ty="0" sx="100000" sy="100000" flip="none" algn="tl"/>
              </a:blip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方正毡笔黑简体" pitchFamily="65" charset="-122"/>
              <a:ea typeface="方正毡笔黑简体" pitchFamily="65" charset="-122"/>
            </a:endParaRPr>
          </a:p>
        </p:txBody>
      </p:sp>
      <p:sp>
        <p:nvSpPr>
          <p:cNvPr id="21" name="矩形 20"/>
          <p:cNvSpPr/>
          <p:nvPr/>
        </p:nvSpPr>
        <p:spPr>
          <a:xfrm rot="21300000">
            <a:off x="2670929" y="2241409"/>
            <a:ext cx="40010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Indeal Pro 1.23" pitchFamily="34" charset="0"/>
                <a:cs typeface="Arial" panose="02080604020202020204" pitchFamily="34" charset="0"/>
              </a:rPr>
              <a:t>Linux</a:t>
            </a:r>
            <a:r>
              <a:rPr lang="en-US" altLang="zh-CN" sz="1600" dirty="0" smtClean="0">
                <a:solidFill>
                  <a:schemeClr val="bg1">
                    <a:lumMod val="75000"/>
                  </a:schemeClr>
                </a:solidFill>
                <a:latin typeface="Indeal Pro 1.23" pitchFamily="34" charset="0"/>
                <a:cs typeface="Arial" panose="02080604020202020204" pitchFamily="34" charset="0"/>
              </a:rPr>
              <a:t> System Programming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Indeal Pro 1.23" pitchFamily="34" charset="0"/>
              <a:cs typeface="Arial" panose="0208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27984" y="2823778"/>
            <a:ext cx="213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方正毡笔黑简体" pitchFamily="65" charset="-122"/>
                <a:ea typeface="方正毡笔黑简体" pitchFamily="65" charset="-122"/>
              </a:rPr>
              <a:t>主讲：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方正毡笔黑简体" pitchFamily="65" charset="-122"/>
                <a:ea typeface="方正毡笔黑简体" pitchFamily="65" charset="-122"/>
              </a:rPr>
              <a:t>王永明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方正毡笔黑简体" pitchFamily="65" charset="-122"/>
              <a:ea typeface="方正毡笔黑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2079" y="125219"/>
            <a:ext cx="20313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课程目标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照片夹.png"/>
          <p:cNvPicPr>
            <a:picLocks noChangeAspect="1"/>
          </p:cNvPicPr>
          <p:nvPr/>
        </p:nvPicPr>
        <p:blipFill>
          <a:blip r:embed="rId3" cstate="print"/>
          <a:srcRect r="66645" b="79232"/>
          <a:stretch>
            <a:fillRect/>
          </a:stretch>
        </p:blipFill>
        <p:spPr>
          <a:xfrm flipH="1">
            <a:off x="4860032" y="-372337"/>
            <a:ext cx="4664304" cy="188767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27584" y="1059582"/>
            <a:ext cx="74888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掌握操作系统的基本原理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机工作原理、多任务管理、并发与竞态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掌握操作系统提供的常用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API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基本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、内存映射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多进程编程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进程管理、进程间通信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多线程编程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线程管理、线程同步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2079" y="125219"/>
            <a:ext cx="20313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课程安排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照片夹.png"/>
          <p:cNvPicPr>
            <a:picLocks noChangeAspect="1"/>
          </p:cNvPicPr>
          <p:nvPr/>
        </p:nvPicPr>
        <p:blipFill>
          <a:blip r:embed="rId3" cstate="print"/>
          <a:srcRect r="66645" b="79232"/>
          <a:stretch>
            <a:fillRect/>
          </a:stretch>
        </p:blipFill>
        <p:spPr>
          <a:xfrm flipH="1">
            <a:off x="4860032" y="-372337"/>
            <a:ext cx="4664304" cy="188767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27584" y="1059582"/>
            <a:ext cx="74888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第一天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上午：计算机系统概述             下午：基本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第二天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上午：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                     下午：信号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第三天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上午：共享文件                       下午：并发与竞态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第四天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上午：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线程                     下午：线程同步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第五天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上午：共享内存、消息队列      下午：管道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6" name="图片 5" descr="黑板-空.png"/>
          <p:cNvPicPr>
            <a:picLocks noChangeAspect="1"/>
          </p:cNvPicPr>
          <p:nvPr/>
        </p:nvPicPr>
        <p:blipFill>
          <a:blip r:embed="rId2" cstate="print"/>
          <a:srcRect l="19395" t="4956" b="17785"/>
          <a:stretch>
            <a:fillRect/>
          </a:stretch>
        </p:blipFill>
        <p:spPr>
          <a:xfrm>
            <a:off x="269776" y="23895"/>
            <a:ext cx="8604449" cy="4580157"/>
          </a:xfrm>
          <a:prstGeom prst="rect">
            <a:avLst/>
          </a:prstGeom>
        </p:spPr>
      </p:pic>
      <p:pic>
        <p:nvPicPr>
          <p:cNvPr id="8" name="图片 7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pic>
        <p:nvPicPr>
          <p:cNvPr id="16" name="图片 15" descr="桌子.png"/>
          <p:cNvPicPr>
            <a:picLocks noChangeAspect="1"/>
          </p:cNvPicPr>
          <p:nvPr/>
        </p:nvPicPr>
        <p:blipFill>
          <a:blip r:embed="rId4" cstate="print"/>
          <a:srcRect t="80530" r="40938"/>
          <a:stretch>
            <a:fillRect/>
          </a:stretch>
        </p:blipFill>
        <p:spPr>
          <a:xfrm>
            <a:off x="-36512" y="4294870"/>
            <a:ext cx="3960440" cy="848630"/>
          </a:xfrm>
          <a:prstGeom prst="rect">
            <a:avLst/>
          </a:prstGeom>
        </p:spPr>
      </p:pic>
      <p:pic>
        <p:nvPicPr>
          <p:cNvPr id="17" name="图片 16" descr="粉笔画.png"/>
          <p:cNvPicPr>
            <a:picLocks noChangeAspect="1"/>
          </p:cNvPicPr>
          <p:nvPr/>
        </p:nvPicPr>
        <p:blipFill>
          <a:blip r:embed="rId5" cstate="print"/>
          <a:srcRect l="49934" t="39179" b="17915"/>
          <a:stretch>
            <a:fillRect/>
          </a:stretch>
        </p:blipFill>
        <p:spPr>
          <a:xfrm>
            <a:off x="5184068" y="2537826"/>
            <a:ext cx="3357242" cy="1870128"/>
          </a:xfrm>
          <a:prstGeom prst="rect">
            <a:avLst/>
          </a:prstGeom>
        </p:spPr>
      </p:pic>
      <p:pic>
        <p:nvPicPr>
          <p:cNvPr id="12" name="图片 11" descr="书本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1540" y="4011910"/>
            <a:ext cx="1053034" cy="900000"/>
          </a:xfrm>
          <a:prstGeom prst="rect">
            <a:avLst/>
          </a:prstGeom>
        </p:spPr>
      </p:pic>
      <p:pic>
        <p:nvPicPr>
          <p:cNvPr id="15" name="图片 14" descr="钟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62386" y="4272318"/>
            <a:ext cx="536449" cy="512065"/>
          </a:xfrm>
          <a:prstGeom prst="rect">
            <a:avLst/>
          </a:prstGeom>
        </p:spPr>
      </p:pic>
      <p:pic>
        <p:nvPicPr>
          <p:cNvPr id="11" name="图片 10" descr="铅笔筒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20426" y="4031525"/>
            <a:ext cx="710185" cy="768098"/>
          </a:xfrm>
          <a:prstGeom prst="rect">
            <a:avLst/>
          </a:prstGeom>
        </p:spPr>
      </p:pic>
      <p:pic>
        <p:nvPicPr>
          <p:cNvPr id="14" name="图片 13" descr="眼镜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98136" y="4658383"/>
            <a:ext cx="546415" cy="252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 rot="21311365">
            <a:off x="3024893" y="1486286"/>
            <a:ext cx="300595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并发与竞态</a:t>
            </a:r>
            <a:endParaRPr lang="zh-CN" altLang="en-US" sz="4400" b="0" cap="none" spc="0" dirty="0">
              <a:ln w="18415" cmpd="sng">
                <a:solidFill>
                  <a:srgbClr val="FFFFFF"/>
                </a:solidFill>
                <a:prstDash val="solid"/>
              </a:ln>
              <a:blipFill dpi="0" rotWithShape="1">
                <a:blip r:embed="rId10">
                  <a:alphaModFix amt="80000"/>
                </a:blip>
                <a:srcRect/>
                <a:tile tx="0" ty="0" sx="100000" sy="100000" flip="none" algn="tl"/>
              </a:blip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方正毡笔黑简体" pitchFamily="65" charset="-122"/>
              <a:ea typeface="方正毡笔黑简体" pitchFamily="65" charset="-122"/>
            </a:endParaRPr>
          </a:p>
        </p:txBody>
      </p:sp>
      <p:sp>
        <p:nvSpPr>
          <p:cNvPr id="21" name="矩形 20"/>
          <p:cNvSpPr/>
          <p:nvPr/>
        </p:nvSpPr>
        <p:spPr>
          <a:xfrm rot="21300000">
            <a:off x="2670929" y="2241409"/>
            <a:ext cx="40010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chemeClr val="bg1">
                    <a:lumMod val="75000"/>
                  </a:schemeClr>
                </a:solidFill>
                <a:latin typeface="Indeal Pro 1.23" pitchFamily="34" charset="0"/>
                <a:cs typeface="Arial" panose="02080604020202020204" pitchFamily="34" charset="0"/>
              </a:rPr>
              <a:t>Concurrent And </a:t>
            </a:r>
            <a:r>
              <a:rPr lang="en-US" altLang="zh-CN" sz="1600" dirty="0" err="1" smtClean="0">
                <a:solidFill>
                  <a:schemeClr val="bg1">
                    <a:lumMod val="75000"/>
                  </a:schemeClr>
                </a:solidFill>
                <a:latin typeface="Indeal Pro 1.23" pitchFamily="34" charset="0"/>
                <a:cs typeface="Arial" panose="02080604020202020204" pitchFamily="34" charset="0"/>
              </a:rPr>
              <a:t>RaceCondition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Indeal Pro 1.23" pitchFamily="34" charset="0"/>
              <a:cs typeface="Arial" panose="0208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27984" y="2823778"/>
            <a:ext cx="213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方正毡笔黑简体" pitchFamily="65" charset="-122"/>
                <a:ea typeface="方正毡笔黑简体" pitchFamily="65" charset="-122"/>
              </a:rPr>
              <a:t>主讲：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方正毡笔黑简体" pitchFamily="65" charset="-122"/>
                <a:ea typeface="方正毡笔黑简体" pitchFamily="65" charset="-122"/>
              </a:rPr>
              <a:t>王永明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方正毡笔黑简体" pitchFamily="65" charset="-122"/>
              <a:ea typeface="方正毡笔黑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2079" y="125219"/>
            <a:ext cx="24929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课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前提问？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照片夹.png"/>
          <p:cNvPicPr>
            <a:picLocks noChangeAspect="1"/>
          </p:cNvPicPr>
          <p:nvPr/>
        </p:nvPicPr>
        <p:blipFill>
          <a:blip r:embed="rId3" cstate="print"/>
          <a:srcRect r="66645" b="79232"/>
          <a:stretch>
            <a:fillRect/>
          </a:stretch>
        </p:blipFill>
        <p:spPr>
          <a:xfrm flipH="1">
            <a:off x="4860032" y="-372337"/>
            <a:ext cx="4664304" cy="188767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27584" y="1239884"/>
            <a:ext cx="748883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如果两台电脑同时向同一台打印机送出打印内容，打印内容是各自期望的吗？如何解决？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客车上只有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个座位，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队有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人从前门上车，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队有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人从后门上车，问座位排满时，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队多少人？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队多少人？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一条生产线上，两个相邻工位，前一个工位工作没完成时，后一个工位处于什么状态？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个进程打开同一个文件，同时对文件进行操作，会出现什么问题？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1569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目录页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575556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文件共享</a:t>
            </a:r>
            <a:endParaRPr lang="zh-CN" altLang="en-US" sz="2600" kern="1200" dirty="0"/>
          </a:p>
        </p:txBody>
      </p:sp>
      <p:sp>
        <p:nvSpPr>
          <p:cNvPr id="20" name="任意多边形 19"/>
          <p:cNvSpPr/>
          <p:nvPr/>
        </p:nvSpPr>
        <p:spPr>
          <a:xfrm>
            <a:off x="169168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同步互斥</a:t>
            </a:r>
            <a:endParaRPr lang="zh-CN" altLang="en-US" sz="2600" kern="1200" dirty="0"/>
          </a:p>
        </p:txBody>
      </p:sp>
      <p:sp>
        <p:nvSpPr>
          <p:cNvPr id="22" name="任意多边形 21"/>
          <p:cNvSpPr/>
          <p:nvPr/>
        </p:nvSpPr>
        <p:spPr>
          <a:xfrm>
            <a:off x="277180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临界资源</a:t>
            </a:r>
            <a:endParaRPr lang="zh-CN" altLang="en-US" sz="2600" kern="1200" dirty="0"/>
          </a:p>
        </p:txBody>
      </p:sp>
      <p:sp>
        <p:nvSpPr>
          <p:cNvPr id="24" name="任意多边形 23"/>
          <p:cNvSpPr/>
          <p:nvPr/>
        </p:nvSpPr>
        <p:spPr>
          <a:xfrm>
            <a:off x="385192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死锁饥饿</a:t>
            </a:r>
            <a:endParaRPr lang="zh-CN" altLang="en-US" sz="2600" kern="1200" dirty="0"/>
          </a:p>
        </p:txBody>
      </p:sp>
      <p:sp>
        <p:nvSpPr>
          <p:cNvPr id="26" name="任意多边形 25"/>
          <p:cNvSpPr/>
          <p:nvPr/>
        </p:nvSpPr>
        <p:spPr>
          <a:xfrm>
            <a:off x="493204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同步机制</a:t>
            </a:r>
            <a:endParaRPr lang="zh-CN" altLang="en-US" sz="26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5868144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典型</a:t>
            </a:r>
            <a:r>
              <a:rPr lang="zh-CN" altLang="en-US" sz="2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endParaRPr lang="zh-CN" altLang="en-US" sz="2600" kern="12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918000" y="2067209"/>
            <a:ext cx="7308000" cy="1625600"/>
            <a:chOff x="1007604" y="2067209"/>
            <a:chExt cx="7308000" cy="1625600"/>
          </a:xfrm>
        </p:grpSpPr>
        <p:sp>
          <p:nvSpPr>
            <p:cNvPr id="17" name="右箭头 16"/>
            <p:cNvSpPr/>
            <p:nvPr/>
          </p:nvSpPr>
          <p:spPr>
            <a:xfrm>
              <a:off x="1007604" y="2067209"/>
              <a:ext cx="7308000" cy="1625600"/>
            </a:xfrm>
            <a:prstGeom prst="rightArrow">
              <a:avLst>
                <a:gd name="adj1" fmla="val 40625"/>
                <a:gd name="adj2" fmla="val 47656"/>
              </a:avLst>
            </a:prstGeom>
            <a:noFill/>
            <a:ln w="158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0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椭圆 18"/>
            <p:cNvSpPr>
              <a:spLocks noChangeAspect="1"/>
            </p:cNvSpPr>
            <p:nvPr/>
          </p:nvSpPr>
          <p:spPr>
            <a:xfrm flipH="1" flipV="1">
              <a:off x="1403648" y="2736009"/>
              <a:ext cx="288000" cy="288000"/>
            </a:xfrm>
            <a:prstGeom prst="ellipse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椭圆 20"/>
            <p:cNvSpPr>
              <a:spLocks noChangeAspect="1"/>
            </p:cNvSpPr>
            <p:nvPr/>
          </p:nvSpPr>
          <p:spPr>
            <a:xfrm flipH="1" flipV="1">
              <a:off x="2485857" y="2736009"/>
              <a:ext cx="288000" cy="288000"/>
            </a:xfrm>
            <a:prstGeom prst="ellipse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椭圆 22"/>
            <p:cNvSpPr>
              <a:spLocks noChangeAspect="1"/>
            </p:cNvSpPr>
            <p:nvPr/>
          </p:nvSpPr>
          <p:spPr>
            <a:xfrm flipH="1" flipV="1">
              <a:off x="3568067" y="2736009"/>
              <a:ext cx="288000" cy="288000"/>
            </a:xfrm>
            <a:prstGeom prst="ellipse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椭圆 24"/>
            <p:cNvSpPr>
              <a:spLocks noChangeAspect="1"/>
            </p:cNvSpPr>
            <p:nvPr/>
          </p:nvSpPr>
          <p:spPr>
            <a:xfrm flipH="1" flipV="1">
              <a:off x="4650277" y="2736009"/>
              <a:ext cx="288000" cy="288000"/>
            </a:xfrm>
            <a:prstGeom prst="ellipse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椭圆 26"/>
            <p:cNvSpPr>
              <a:spLocks noChangeAspect="1"/>
            </p:cNvSpPr>
            <p:nvPr/>
          </p:nvSpPr>
          <p:spPr>
            <a:xfrm flipH="1" flipV="1">
              <a:off x="5732486" y="2736009"/>
              <a:ext cx="288000" cy="288000"/>
            </a:xfrm>
            <a:prstGeom prst="ellipse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椭圆 28"/>
            <p:cNvSpPr>
              <a:spLocks noChangeAspect="1"/>
            </p:cNvSpPr>
            <p:nvPr/>
          </p:nvSpPr>
          <p:spPr>
            <a:xfrm flipH="1" flipV="1">
              <a:off x="6814696" y="2736009"/>
              <a:ext cx="288000" cy="288000"/>
            </a:xfrm>
            <a:prstGeom prst="ellipse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1569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转场页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07604" y="2067209"/>
            <a:ext cx="7236000" cy="1625600"/>
          </a:xfrm>
          <a:prstGeom prst="rightArrow">
            <a:avLst>
              <a:gd name="adj1" fmla="val 40625"/>
              <a:gd name="adj2" fmla="val 47656"/>
            </a:avLst>
          </a:prstGeom>
          <a:noFill/>
          <a:ln w="158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任意多边形 17"/>
          <p:cNvSpPr/>
          <p:nvPr/>
        </p:nvSpPr>
        <p:spPr>
          <a:xfrm>
            <a:off x="68872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b="1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rPr>
              <a:t>文件共享</a:t>
            </a:r>
            <a:endParaRPr lang="zh-CN" altLang="en-US" sz="2600" b="1" kern="1200" dirty="0">
              <a:solidFill>
                <a:srgbClr val="FF99FF"/>
              </a:solidFill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flipH="1" flipV="1">
            <a:off x="1403648" y="2736009"/>
            <a:ext cx="288000" cy="288000"/>
          </a:xfrm>
          <a:prstGeom prst="ellipse">
            <a:avLst/>
          </a:prstGeom>
          <a:solidFill>
            <a:srgbClr val="FF99FF"/>
          </a:solidFill>
          <a:ln>
            <a:solidFill>
              <a:srgbClr val="FF75F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任意多边形 19"/>
          <p:cNvSpPr/>
          <p:nvPr/>
        </p:nvSpPr>
        <p:spPr>
          <a:xfrm>
            <a:off x="169168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同步互斥</a:t>
            </a:r>
            <a:endParaRPr lang="zh-CN" altLang="en-US" sz="2000" kern="1200" dirty="0"/>
          </a:p>
        </p:txBody>
      </p:sp>
      <p:sp>
        <p:nvSpPr>
          <p:cNvPr id="21" name="椭圆 20"/>
          <p:cNvSpPr>
            <a:spLocks noChangeAspect="1"/>
          </p:cNvSpPr>
          <p:nvPr/>
        </p:nvSpPr>
        <p:spPr>
          <a:xfrm flipH="1" flipV="1">
            <a:off x="2485857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2" name="任意多边形 21"/>
          <p:cNvSpPr/>
          <p:nvPr/>
        </p:nvSpPr>
        <p:spPr>
          <a:xfrm>
            <a:off x="277389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临界资源</a:t>
            </a:r>
            <a:endParaRPr lang="zh-CN" altLang="en-US" sz="2000" kern="1200" dirty="0"/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 flipH="1" flipV="1">
            <a:off x="3568067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23"/>
          <p:cNvSpPr/>
          <p:nvPr/>
        </p:nvSpPr>
        <p:spPr>
          <a:xfrm>
            <a:off x="385610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kern="12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死锁饥饿</a:t>
            </a:r>
            <a:endParaRPr lang="zh-CN" altLang="en-US" sz="2000" kern="1200" dirty="0"/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 flipH="1" flipV="1">
            <a:off x="4650277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任意多边形 25"/>
          <p:cNvSpPr/>
          <p:nvPr/>
        </p:nvSpPr>
        <p:spPr>
          <a:xfrm>
            <a:off x="493830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机制</a:t>
            </a:r>
            <a:endParaRPr lang="zh-CN" altLang="en-US" sz="2000" dirty="0"/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 flipH="1" flipV="1">
            <a:off x="573248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任意多边形 27"/>
          <p:cNvSpPr/>
          <p:nvPr/>
        </p:nvSpPr>
        <p:spPr>
          <a:xfrm>
            <a:off x="6020519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典型问题</a:t>
            </a:r>
            <a:endParaRPr lang="zh-CN" altLang="en-US" sz="2000" dirty="0"/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 flipH="1" flipV="1">
            <a:off x="681469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文件操作内核实现结构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07" name="Picture 8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1923678"/>
            <a:ext cx="672465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dup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和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fork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时的文件描述符操作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656" y="1995686"/>
            <a:ext cx="673417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两个独立进程各自打开同一文件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593255"/>
            <a:ext cx="5770612" cy="313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7960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示例代码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27584" y="1733783"/>
            <a:ext cx="74888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">
              <a:buFont typeface="Wingdings" panose="05000000000000000000" pitchFamily="2" charset="2"/>
              <a:buChar char="u"/>
            </a:pP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lockmain.c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locknone.c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创建锁文件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27584" y="1554053"/>
            <a:ext cx="748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以“原子操作”创建一个锁文件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原子操作：无法被打断的操作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锁文件充当一个指示器的角色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open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O_CREAT&amp;O_EXCL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open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原子操作完成先判断文件是否存在，如何不存在则创建它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/tmp/LCK.name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EEXIST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错误号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建议性锁非强制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锁文件示例代码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68052" y="3723878"/>
            <a:ext cx="7488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只能轮询检测</a:t>
            </a:r>
            <a:endParaRPr lang="en-US" altLang="zh-CN" sz="16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 fontAlgn="b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访问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大型的共享文件？如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endParaRPr lang="zh-CN" altLang="en-US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7584" y="2017172"/>
            <a:ext cx="74888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">
              <a:buFont typeface="Wingdings" panose="05000000000000000000" pitchFamily="2" charset="2"/>
              <a:buChar char="u"/>
            </a:pP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lockmain.c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lockopen.c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文件区域锁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96334" y="1401404"/>
            <a:ext cx="744807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文件段锁定、文件区域锁定、字节范围锁定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fcntl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fildes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,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command, …)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对文件描述符操作，根据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command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设置不同的任务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用于文件区域锁的三个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command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F_GETLK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：获取文件描述符的锁信息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F_SETLK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：对文件某个区域加锁或解锁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F_SETLKW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：作用同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F_SETLK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，但无法获取锁时一直阻塞到能锁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实际原型：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fcntl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fildes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,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cmd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struct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flock *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flock_structure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程序对某个文件拥有的所有锁都将在文件描述符被关闭时自动清除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程序在结束时也会清除各种锁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只能使用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write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系统调用配合使用，不能使用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fread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fwrite</a:t>
            </a:r>
            <a:endParaRPr lang="en-US" altLang="zh-CN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文件区域锁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——</a:t>
              </a:r>
              <a:r>
                <a:rPr lang="en-US" altLang="zh-CN" sz="2400" dirty="0" err="1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struct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 flock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说明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96334" y="1419622"/>
            <a:ext cx="74480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至少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包含以下成员：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short  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l_type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：见下表</a:t>
            </a:r>
            <a:endParaRPr lang="en-US" altLang="zh-CN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short  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l_whence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SEEK_SET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SEEK_CUR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SEEK_END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off_t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l_start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：区域第一字节相对于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l_whence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的相对位置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off_t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l_len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：区域字节数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pid_t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l_pid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：持有锁的进程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，一般配合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F_GETLK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endParaRPr lang="zh-CN" altLang="en-US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99591" y="3147814"/>
          <a:ext cx="734481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5"/>
                <a:gridCol w="604867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l_type</a:t>
                      </a:r>
                      <a:r>
                        <a:rPr lang="zh-CN" altLang="en-US" dirty="0" smtClean="0"/>
                        <a:t>的取值</a:t>
                      </a:r>
                      <a:endParaRPr lang="zh-CN" alt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F_RDLCK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读锁，共享锁，多个进程可以同时持有同一区域的共享锁，只要有读权限。一个区域只要一把共享锁，就无法设置独占锁。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F_WRLCK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写锁，独占锁，同一区域只能有一个进程（具有写权限）设置独占锁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F_UNLCK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解锁，用来清除锁</a:t>
                      </a:r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文件区域锁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——F_GETLK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操作说明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96334" y="1521247"/>
            <a:ext cx="74480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获取指定文件指定区域相关锁的信息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lvl="1" indent="-285750">
              <a:buFont typeface="Wingdings" panose="05000000000000000000" pitchFamily="2" charset="2"/>
              <a:buChar char="u"/>
            </a:pP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fcntl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fildes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, 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F_GETLK,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struct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flock * 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flock_structure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成功返回非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值，失败返回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，锁信息可以通过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flock_structure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参数内容来检查（比如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l_pid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6335" y="2643758"/>
            <a:ext cx="744807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代码范例：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struct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flock 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region_to_test.l_type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= F_WRLCK;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region_to_test.l_whence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= SEEK_SET;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region_to_test.l_start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= 0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;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region_to_test.l_len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= 10;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region_to_test.l_pid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=-1;</a:t>
            </a:r>
            <a:endParaRPr lang="en-US" altLang="zh-CN" sz="1600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fcntl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fd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F_GETLK,&amp;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if(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region_to_test.l_pid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!=-1 ){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prinrf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(“This region is locked by %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d\n”, </a:t>
            </a:r>
            <a:r>
              <a:rPr lang="en-US" altLang="zh-CN" sz="1600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region_to_test.l_pid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en-US" sz="1600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7128792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文件区域锁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——F_SETLK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F_SETLKW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操作说明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96334" y="1521247"/>
            <a:ext cx="74480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对指定文件的某个指定区域设置指定锁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F_SETLK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设置失败将直接返回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F_SETLKW</a:t>
            </a: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设置失败将阻塞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l_pid</a:t>
            </a:r>
            <a:r>
              <a:rPr lang="zh-CN" altLang="en-US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无作用</a:t>
            </a:r>
            <a:endParaRPr lang="zh-CN" altLang="en-US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6335" y="2427734"/>
            <a:ext cx="7448073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代码范例：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struct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flock 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region_read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region_read.l_type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= F_RDLCK;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region_read.l_whence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= SEEK_SET;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region_read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.l_start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20;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region_read.l_len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= 20;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1600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ret = 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fcntl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fd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F_SETLK,&amp;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region_read</a:t>
            </a:r>
            <a:r>
              <a:rPr lang="en-US" altLang="zh-CN" sz="160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if(-1 == ret )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{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(“Lock region failed\n”);</a:t>
            </a:r>
            <a:endParaRPr lang="en-US" altLang="zh-CN" sz="1600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en-US" sz="1600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文件区域锁示例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96334" y="1521247"/>
            <a:ext cx="74480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lockfileregion.c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testlockfileregion.c</a:t>
            </a:r>
            <a:endParaRPr lang="en-US" altLang="zh-CN" i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wraplock.c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wraplock.h</a:t>
            </a:r>
            <a:endParaRPr lang="zh-CN" altLang="en-US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一、文件共享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9592" y="105958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应用示例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：统一的序列号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96334" y="1521247"/>
            <a:ext cx="7448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lockmain.c</a:t>
            </a:r>
            <a:r>
              <a:rPr lang="en-US" altLang="zh-CN" i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i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lockfcntl.c</a:t>
            </a:r>
            <a:endParaRPr lang="zh-CN" altLang="en-US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99593" y="2604849"/>
            <a:ext cx="5832648" cy="461665"/>
            <a:chOff x="1619672" y="1822053"/>
            <a:chExt cx="5832648" cy="461665"/>
          </a:xfrm>
        </p:grpSpPr>
        <p:sp>
          <p:nvSpPr>
            <p:cNvPr id="12" name="TextBox 11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应用示例</a:t>
              </a:r>
              <a:r>
                <a:rPr lang="en-US" altLang="zh-CN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：单一实例程序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椭圆 1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796335" y="3066514"/>
            <a:ext cx="7448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alreadyrunning.c</a:t>
            </a:r>
            <a:r>
              <a:rPr lang="en-US" altLang="zh-CN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i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testonedaemon.c</a:t>
            </a:r>
            <a:endParaRPr lang="zh-CN" altLang="en-US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1569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转场页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07604" y="2067209"/>
            <a:ext cx="7236000" cy="1625600"/>
          </a:xfrm>
          <a:prstGeom prst="rightArrow">
            <a:avLst>
              <a:gd name="adj1" fmla="val 40625"/>
              <a:gd name="adj2" fmla="val 47656"/>
            </a:avLst>
          </a:prstGeom>
          <a:noFill/>
          <a:ln w="158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任意多边形 17"/>
          <p:cNvSpPr/>
          <p:nvPr/>
        </p:nvSpPr>
        <p:spPr>
          <a:xfrm>
            <a:off x="68872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文件共享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flipH="1" flipV="1">
            <a:off x="2429722" y="2736009"/>
            <a:ext cx="288000" cy="288000"/>
          </a:xfrm>
          <a:prstGeom prst="ellipse">
            <a:avLst/>
          </a:prstGeom>
          <a:solidFill>
            <a:srgbClr val="FF99FF"/>
          </a:solidFill>
          <a:ln>
            <a:solidFill>
              <a:srgbClr val="FF75F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任意多边形 19"/>
          <p:cNvSpPr/>
          <p:nvPr/>
        </p:nvSpPr>
        <p:spPr>
          <a:xfrm>
            <a:off x="169168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b="1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rPr>
              <a:t>同步互斥</a:t>
            </a:r>
            <a:endParaRPr lang="zh-CN" altLang="en-US" sz="2600" b="1" dirty="0">
              <a:solidFill>
                <a:srgbClr val="FF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277389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临界资源</a:t>
            </a:r>
            <a:endParaRPr lang="zh-CN" altLang="en-US" sz="2000" kern="1200" dirty="0"/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 flipH="1" flipV="1">
            <a:off x="3568067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23"/>
          <p:cNvSpPr/>
          <p:nvPr/>
        </p:nvSpPr>
        <p:spPr>
          <a:xfrm>
            <a:off x="385610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死锁饥饿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 flipH="1" flipV="1">
            <a:off x="4650277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任意多边形 25"/>
          <p:cNvSpPr/>
          <p:nvPr/>
        </p:nvSpPr>
        <p:spPr>
          <a:xfrm>
            <a:off x="493830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机制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 flipH="1" flipV="1">
            <a:off x="573248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任意多边形 27"/>
          <p:cNvSpPr/>
          <p:nvPr/>
        </p:nvSpPr>
        <p:spPr>
          <a:xfrm>
            <a:off x="6020519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典型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endParaRPr lang="zh-CN" altLang="en-US" sz="2000" dirty="0"/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 flipH="1" flipV="1">
            <a:off x="681469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椭圆 37"/>
          <p:cNvSpPr>
            <a:spLocks noChangeAspect="1"/>
          </p:cNvSpPr>
          <p:nvPr/>
        </p:nvSpPr>
        <p:spPr>
          <a:xfrm flipH="1" flipV="1">
            <a:off x="1457726" y="2787774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、同步互斥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99592" y="1059582"/>
            <a:ext cx="5976664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并发与竞态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8165" y="1521247"/>
            <a:ext cx="741682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并发执行：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Concurrent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多个单元同时、并行被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执行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这样单元可能是进程或线程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并发执行单元对共享资源的访问很容易导致数据错乱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解决这样的错乱问题是所有操作系统核心问题之一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竞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态条件（竞态情况）：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Race Condition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角度来讲，是指两个或多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共享的数据进行读或写的操作时，最终的结果取决于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这些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的执行顺序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并发产生竞态，竞态导致共享数据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的错乱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一种极端低可能性的事件，因此程序员往往会忽视竞态。但是在计算机世界中，百万分之一的事件可能没几秒就会发生，而其结果是灾难性的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竞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态是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由于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资源的共享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访问而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产生的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、同步互斥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203598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解决竞态的原则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7584" y="1707654"/>
            <a:ext cx="741682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只要可能，就应该避免资源的共享。若没有并发访问，就不会有竞态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必须显式地管理对共享资源的访问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。常见管理技术有：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锁定、互斥、原子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操作，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确保一次只有一个任务可操作共享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资源。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当内核代码创建了一个可能和其他部分共享的对象时，该对象必须在还有其他部分引用自己时保持存在（并正确工作）。对象尚不能正确工作时，不能将其对内核可用。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、同步互斥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203598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同步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7584" y="1680359"/>
            <a:ext cx="741682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之间直接的制约关系，是为完成某种功能而建立的两个或多个任务，这个任务需要在某些位置上协调他们的工作次序而等待、传递信息所产生的制约关系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任务间是合作关系，而不是竞争关系，存在着依赖。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工厂生产线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比如说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需要从缓冲区读取进程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产生的信息，当缓冲区为空时，进程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因为读取不到信息而被阻塞。而当进程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产生信息放入缓冲区时，进程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才会被唤醒。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、同步互斥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203598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互斥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97891" y="1680359"/>
            <a:ext cx="73465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之间的间接制约关系。当一个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任务使用共享资源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时，另一个任务必须等待。只有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当其余任务不在使用共享资源后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，这个任务才会解除阻塞状态。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任务间竞争关系，而不是合作关系，存在着争抢。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汽车座位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需要访问打印机，但此时进程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占有了打印机，进程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会被阻塞，直到进程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释放了打印机资源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才可以继续执行。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1569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转场页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07604" y="2067209"/>
            <a:ext cx="7236000" cy="1625600"/>
          </a:xfrm>
          <a:prstGeom prst="rightArrow">
            <a:avLst>
              <a:gd name="adj1" fmla="val 40625"/>
              <a:gd name="adj2" fmla="val 47656"/>
            </a:avLst>
          </a:prstGeom>
          <a:noFill/>
          <a:ln w="158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任意多边形 17"/>
          <p:cNvSpPr/>
          <p:nvPr/>
        </p:nvSpPr>
        <p:spPr>
          <a:xfrm>
            <a:off x="68872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文件共享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flipH="1" flipV="1">
            <a:off x="3500877" y="2736009"/>
            <a:ext cx="288000" cy="288000"/>
          </a:xfrm>
          <a:prstGeom prst="ellipse">
            <a:avLst/>
          </a:prstGeom>
          <a:solidFill>
            <a:srgbClr val="FF99FF"/>
          </a:solidFill>
          <a:ln>
            <a:solidFill>
              <a:srgbClr val="FF75F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任意多边形 19"/>
          <p:cNvSpPr/>
          <p:nvPr/>
        </p:nvSpPr>
        <p:spPr>
          <a:xfrm>
            <a:off x="169168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同步互斥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277389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b="1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rPr>
              <a:t>临界资源</a:t>
            </a:r>
            <a:endParaRPr lang="zh-CN" altLang="en-US" sz="2600" b="1" dirty="0">
              <a:solidFill>
                <a:srgbClr val="FF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 flipH="1" flipV="1">
            <a:off x="2483768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23"/>
          <p:cNvSpPr/>
          <p:nvPr/>
        </p:nvSpPr>
        <p:spPr>
          <a:xfrm>
            <a:off x="385610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死锁饥饿</a:t>
            </a:r>
            <a:endParaRPr lang="zh-CN" altLang="en-US" sz="2000" kern="1200" dirty="0"/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 flipH="1" flipV="1">
            <a:off x="4650277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任意多边形 25"/>
          <p:cNvSpPr/>
          <p:nvPr/>
        </p:nvSpPr>
        <p:spPr>
          <a:xfrm>
            <a:off x="493830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机制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 flipH="1" flipV="1">
            <a:off x="573248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任意多边形 27"/>
          <p:cNvSpPr/>
          <p:nvPr/>
        </p:nvSpPr>
        <p:spPr>
          <a:xfrm>
            <a:off x="6020519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典型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endParaRPr lang="zh-CN" altLang="en-US" sz="2000" dirty="0"/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 flipH="1" flipV="1">
            <a:off x="681469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椭圆 37"/>
          <p:cNvSpPr>
            <a:spLocks noChangeAspect="1"/>
          </p:cNvSpPr>
          <p:nvPr/>
        </p:nvSpPr>
        <p:spPr>
          <a:xfrm flipH="1" flipV="1">
            <a:off x="1457726" y="2787774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三、临界资源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27584" y="109544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临界资源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97891" y="1491630"/>
            <a:ext cx="734651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在操作系统中，进程是占有资源的最小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单位，线程是能获取时间片的最小执行单元，可以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访问其所在进程内的所有资源，但线程本身并不占有资源或仅仅占有一点必须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资源。我们把进程和线程统称为任务（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Task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但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对于某些资源来说，其在同一时间只能被一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所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占用。这些一次只能被一个进程所占用的资源就是所谓的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临界资源或称为共享资源。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典型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的临界资源比如物理上的打印机，或是存在硬盘或内存中被多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所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共享的一些变量和数据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临界资源必须显式地加以保护管理，否则很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有可能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造成数据的错乱问题。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对于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临界资源的访问，必须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是互斥地进行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。也就是当临界资源被占用时，另一个申请临界资源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被阻塞，直到其所申请的临界资源被释放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三、临界资源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27584" y="109544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临界区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97891" y="1491630"/>
            <a:ext cx="734651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任务内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访问临界资源的代码被成为临界区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显式处理临界资源的一般步骤：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进入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区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查看临界区是否可访问，如果可以访问，则转到步骤二，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被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阻塞直到临界区可访问。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临界区：在临界区操作共享资源。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退出区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清除临界区被占用的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标志。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剩余区：进程与临界区不相关部分的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代码。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1569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转场页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07604" y="2067209"/>
            <a:ext cx="7236000" cy="1625600"/>
          </a:xfrm>
          <a:prstGeom prst="rightArrow">
            <a:avLst>
              <a:gd name="adj1" fmla="val 40625"/>
              <a:gd name="adj2" fmla="val 47656"/>
            </a:avLst>
          </a:prstGeom>
          <a:noFill/>
          <a:ln w="158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任意多边形 17"/>
          <p:cNvSpPr/>
          <p:nvPr/>
        </p:nvSpPr>
        <p:spPr>
          <a:xfrm>
            <a:off x="68872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文件共享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flipH="1" flipV="1">
            <a:off x="4572032" y="2736009"/>
            <a:ext cx="288000" cy="288000"/>
          </a:xfrm>
          <a:prstGeom prst="ellipse">
            <a:avLst/>
          </a:prstGeom>
          <a:solidFill>
            <a:srgbClr val="FF99FF"/>
          </a:solidFill>
          <a:ln>
            <a:solidFill>
              <a:srgbClr val="FF75F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任意多边形 19"/>
          <p:cNvSpPr/>
          <p:nvPr/>
        </p:nvSpPr>
        <p:spPr>
          <a:xfrm>
            <a:off x="169168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同步互斥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277389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临界资源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 flipH="1" flipV="1">
            <a:off x="2483768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23"/>
          <p:cNvSpPr/>
          <p:nvPr/>
        </p:nvSpPr>
        <p:spPr>
          <a:xfrm>
            <a:off x="385610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b="1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rPr>
              <a:t>死锁饥饿</a:t>
            </a:r>
            <a:endParaRPr lang="zh-CN" altLang="en-US" sz="2600" b="1" dirty="0">
              <a:solidFill>
                <a:srgbClr val="FF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 flipH="1" flipV="1">
            <a:off x="3554923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任意多边形 25"/>
          <p:cNvSpPr/>
          <p:nvPr/>
        </p:nvSpPr>
        <p:spPr>
          <a:xfrm>
            <a:off x="493830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同步机制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 flipH="1" flipV="1">
            <a:off x="573248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任意多边形 27"/>
          <p:cNvSpPr/>
          <p:nvPr/>
        </p:nvSpPr>
        <p:spPr>
          <a:xfrm>
            <a:off x="6020519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典型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 flipH="1" flipV="1">
            <a:off x="681469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椭圆 37"/>
          <p:cNvSpPr>
            <a:spLocks noChangeAspect="1"/>
          </p:cNvSpPr>
          <p:nvPr/>
        </p:nvSpPr>
        <p:spPr>
          <a:xfrm flipH="1" flipV="1">
            <a:off x="1457726" y="2787774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、死锁饥饿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27584" y="109544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死锁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827584" y="1540986"/>
            <a:ext cx="741682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每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个任务都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在等待只能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由其他任务才能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引发的事件，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那么这些是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死锁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对临界资源操作不当，导致任务永远睡眠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有时又称为抱死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现实例子：交通死锁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锁住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了资源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等待资源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而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锁住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了资源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并等待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资源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，这样两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就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发生了死锁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现象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如果某个任务在其临界区代码里试图再次获取同样的共享资源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如果任务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锁住了资源，临界区后没有释放锁，任务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永远没法获得共享资源，则任务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死锁，任务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在其后续代码里又试图获取共享资源，则任务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死锁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、死锁饥饿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27584" y="109544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死锁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85950"/>
            <a:ext cx="254317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 descr="C:\Users\HiroWang\Desktop\死锁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26274"/>
            <a:ext cx="4686145" cy="337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、死锁饥饿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27584" y="109544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活</a:t>
              </a:r>
              <a:r>
                <a:rPr lang="zh-CN" altLang="en-US" sz="2400" dirty="0" smtClean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锁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827584" y="1635646"/>
            <a:ext cx="74168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对临界资源操作不当，导致任务永远忙等待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现象与死锁类似，但是任务不是睡眠，而是以占用时间片的形式忙等待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、死锁饥饿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27584" y="1095442"/>
            <a:ext cx="5832648" cy="461665"/>
            <a:chOff x="1619672" y="1822053"/>
            <a:chExt cx="5832648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FF99FF"/>
                  </a:solidFill>
                  <a:latin typeface="微软雅黑" pitchFamily="34" charset="-122"/>
                  <a:ea typeface="微软雅黑" pitchFamily="34" charset="-122"/>
                </a:rPr>
                <a:t>饥饿</a:t>
              </a:r>
              <a:endParaRPr lang="zh-CN" altLang="en-US" sz="2400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1619672" y="1959710"/>
              <a:ext cx="252000" cy="252000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827584" y="1540986"/>
            <a:ext cx="741682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一个可运行的进程尽管能继续执行，但被调度器无限期地忽视，而不能被调度执行的情况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现象描述：如果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封锁了数据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R,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又请求封锁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，于是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等待。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T3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也请求封锁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，当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释放了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上的封锁后，系统首先批准了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T3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的请求，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仍然等待。然后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T4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又请求封锁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，当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T3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释放了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上的封锁之后，系统又批准了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T4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的请求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......T2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可能永远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等待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有一定几率解开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解决方法：先来先服务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1569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转场页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07604" y="2067209"/>
            <a:ext cx="7236000" cy="1625600"/>
          </a:xfrm>
          <a:prstGeom prst="rightArrow">
            <a:avLst>
              <a:gd name="adj1" fmla="val 40625"/>
              <a:gd name="adj2" fmla="val 47656"/>
            </a:avLst>
          </a:prstGeom>
          <a:noFill/>
          <a:ln w="158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任意多边形 17"/>
          <p:cNvSpPr/>
          <p:nvPr/>
        </p:nvSpPr>
        <p:spPr>
          <a:xfrm>
            <a:off x="68872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文件共享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flipH="1" flipV="1">
            <a:off x="5724160" y="2736009"/>
            <a:ext cx="288000" cy="288000"/>
          </a:xfrm>
          <a:prstGeom prst="ellipse">
            <a:avLst/>
          </a:prstGeom>
          <a:solidFill>
            <a:srgbClr val="FF99FF"/>
          </a:solidFill>
          <a:ln>
            <a:solidFill>
              <a:srgbClr val="FF75F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任意多边形 19"/>
          <p:cNvSpPr/>
          <p:nvPr/>
        </p:nvSpPr>
        <p:spPr>
          <a:xfrm>
            <a:off x="169168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同步互斥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277389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临界资源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 flipH="1" flipV="1">
            <a:off x="2483768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23"/>
          <p:cNvSpPr/>
          <p:nvPr/>
        </p:nvSpPr>
        <p:spPr>
          <a:xfrm>
            <a:off x="385610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死锁饥饿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 flipH="1" flipV="1">
            <a:off x="3554923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任意多边形 25"/>
          <p:cNvSpPr/>
          <p:nvPr/>
        </p:nvSpPr>
        <p:spPr>
          <a:xfrm>
            <a:off x="493830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b="1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rPr>
              <a:t>同步机制</a:t>
            </a:r>
            <a:endParaRPr lang="zh-CN" altLang="en-US" sz="2600" b="1" dirty="0">
              <a:solidFill>
                <a:srgbClr val="FF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 flipH="1" flipV="1">
            <a:off x="4635043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任意多边形 27"/>
          <p:cNvSpPr/>
          <p:nvPr/>
        </p:nvSpPr>
        <p:spPr>
          <a:xfrm>
            <a:off x="6020519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典型问题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 flipH="1" flipV="1">
            <a:off x="681469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椭圆 37"/>
          <p:cNvSpPr>
            <a:spLocks noChangeAspect="1"/>
          </p:cNvSpPr>
          <p:nvPr/>
        </p:nvSpPr>
        <p:spPr>
          <a:xfrm flipH="1" flipV="1">
            <a:off x="1457726" y="2787774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五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、同步机制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现实实例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5883" y="1521247"/>
            <a:ext cx="74185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以一个停车场的运作为例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。简单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起见，假设停车场只有三个车位，一开始三个车位都是空的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这时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如果同时来了五辆车，看门人允许其中三辆直接进入，然后放下车拦，剩下的车则必须在入口等待，此后来的车也都不得不在入口处等待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这时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，有一辆车离开停车场，看门人得知后，打开车拦，放入外面的一辆进去，如果又离开两辆，则又可以放入两辆，如此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往复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车位是公共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资源（临界资源或共享资源）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每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辆车好比一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个任务（一个进程或线程或异常处理程序）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看门人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起的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就是同步机制的作用（锁文件、区域锁、信号量）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五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、同步机制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同步机制原则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5883" y="1521247"/>
            <a:ext cx="741852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解决竞态条件问题的方法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同步机制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应遵循的原则：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空闲让进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忙则等待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有限等待：避免死等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等待方式：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让权等待：让出处理器，睡眠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忙等待：轮询等待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五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、同步机制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常用同步机制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5883" y="1521247"/>
            <a:ext cx="74185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锁文件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文件区域锁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信号量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五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、同步机制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信号量（</a:t>
              </a:r>
              <a:r>
                <a:rPr lang="en-US" altLang="zh-CN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Semaphore</a:t>
              </a:r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763704" y="1521247"/>
            <a:ext cx="295465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一个特殊整型变量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这个整型值表示有多少个同类共享资源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三个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操作：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定义并初始化为非负整数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等资源可用信号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s--;  if(s &lt; 0) wait();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发资源可用信号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操作：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s++; if(s&lt;=0) post();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461005"/>
            <a:ext cx="4680520" cy="3342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五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、同步机制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互斥</a:t>
              </a:r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量（</a:t>
              </a:r>
              <a:r>
                <a:rPr lang="en-US" altLang="zh-CN" sz="2400" dirty="0" err="1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Mutex</a:t>
              </a:r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5883" y="1521247"/>
            <a:ext cx="28924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二元信号量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取值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9" y="1373245"/>
            <a:ext cx="4742866" cy="3342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五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、同步机制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使用信号量互斥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82" y="1461005"/>
            <a:ext cx="7480704" cy="3270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五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、同步机制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互斥解析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Picture 1" descr="\\192.168.1.112\员工目录\徐海兵\5-07 copy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1" y="1521247"/>
            <a:ext cx="7500938" cy="325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3" name="图片 2" descr="黑板-空.png"/>
          <p:cNvPicPr/>
          <p:nvPr/>
        </p:nvPicPr>
        <p:blipFill>
          <a:blip r:embed="rId2" cstate="print"/>
          <a:srcRect l="23089" t="4956" r="4833" b="20641"/>
          <a:stretch>
            <a:fillRect/>
          </a:stretch>
        </p:blipFill>
        <p:spPr>
          <a:xfrm>
            <a:off x="458595" y="571500"/>
            <a:ext cx="8226810" cy="4572000"/>
          </a:xfrm>
          <a:prstGeom prst="rect">
            <a:avLst/>
          </a:prstGeom>
        </p:spPr>
      </p:pic>
      <p:pic>
        <p:nvPicPr>
          <p:cNvPr id="4" name="图片 3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3704" y="125219"/>
            <a:ext cx="1569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转场页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07604" y="2067209"/>
            <a:ext cx="7236000" cy="1625600"/>
          </a:xfrm>
          <a:prstGeom prst="rightArrow">
            <a:avLst>
              <a:gd name="adj1" fmla="val 40625"/>
              <a:gd name="adj2" fmla="val 47656"/>
            </a:avLst>
          </a:prstGeom>
          <a:noFill/>
          <a:ln w="158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任意多边形 17"/>
          <p:cNvSpPr/>
          <p:nvPr/>
        </p:nvSpPr>
        <p:spPr>
          <a:xfrm>
            <a:off x="68872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文件共享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flipH="1" flipV="1">
            <a:off x="6876288" y="2736009"/>
            <a:ext cx="288000" cy="288000"/>
          </a:xfrm>
          <a:prstGeom prst="ellipse">
            <a:avLst/>
          </a:prstGeom>
          <a:solidFill>
            <a:srgbClr val="FF99FF"/>
          </a:solidFill>
          <a:ln>
            <a:solidFill>
              <a:srgbClr val="FF75F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任意多边形 19"/>
          <p:cNvSpPr/>
          <p:nvPr/>
        </p:nvSpPr>
        <p:spPr>
          <a:xfrm>
            <a:off x="169168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同步互斥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2773890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临界资源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 flipH="1" flipV="1">
            <a:off x="2483768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23"/>
          <p:cNvSpPr/>
          <p:nvPr/>
        </p:nvSpPr>
        <p:spPr>
          <a:xfrm>
            <a:off x="3856100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死锁饥饿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 flipH="1" flipV="1">
            <a:off x="3554923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任意多边形 25"/>
          <p:cNvSpPr/>
          <p:nvPr/>
        </p:nvSpPr>
        <p:spPr>
          <a:xfrm>
            <a:off x="4938309" y="1018158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b" anchorCtr="0">
            <a:noAutofit/>
          </a:bodyPr>
          <a:lstStyle/>
          <a:p>
            <a:pPr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同步机制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 flipH="1" flipV="1">
            <a:off x="4635043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任意多边形 27"/>
          <p:cNvSpPr/>
          <p:nvPr/>
        </p:nvSpPr>
        <p:spPr>
          <a:xfrm>
            <a:off x="6135781" y="3219822"/>
            <a:ext cx="1748587" cy="1625600"/>
          </a:xfrm>
          <a:custGeom>
            <a:avLst/>
            <a:gdLst>
              <a:gd name="connsiteX0" fmla="*/ 0 w 1030675"/>
              <a:gd name="connsiteY0" fmla="*/ 0 h 1625600"/>
              <a:gd name="connsiteX1" fmla="*/ 1030675 w 1030675"/>
              <a:gd name="connsiteY1" fmla="*/ 0 h 1625600"/>
              <a:gd name="connsiteX2" fmla="*/ 1030675 w 1030675"/>
              <a:gd name="connsiteY2" fmla="*/ 1625600 h 1625600"/>
              <a:gd name="connsiteX3" fmla="*/ 0 w 1030675"/>
              <a:gd name="connsiteY3" fmla="*/ 1625600 h 1625600"/>
              <a:gd name="connsiteX4" fmla="*/ 0 w 1030675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0675" h="1625600">
                <a:moveTo>
                  <a:pt x="0" y="0"/>
                </a:moveTo>
                <a:lnTo>
                  <a:pt x="1030675" y="0"/>
                </a:lnTo>
                <a:lnTo>
                  <a:pt x="1030675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4912" tIns="184912" rIns="184912" bIns="184912" numCol="1" spcCol="1270" anchor="t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b="1" dirty="0" smtClean="0">
                <a:solidFill>
                  <a:srgbClr val="FF99FF"/>
                </a:solidFill>
                <a:latin typeface="微软雅黑" pitchFamily="34" charset="-122"/>
                <a:ea typeface="微软雅黑" pitchFamily="34" charset="-122"/>
              </a:rPr>
              <a:t>典型问题</a:t>
            </a:r>
            <a:endParaRPr lang="zh-CN" altLang="en-US" sz="2600" b="1" dirty="0">
              <a:solidFill>
                <a:srgbClr val="FF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 flipH="1" flipV="1">
            <a:off x="5778206" y="2790009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椭圆 37"/>
          <p:cNvSpPr>
            <a:spLocks noChangeAspect="1"/>
          </p:cNvSpPr>
          <p:nvPr/>
        </p:nvSpPr>
        <p:spPr>
          <a:xfrm flipH="1" flipV="1">
            <a:off x="1457726" y="2787774"/>
            <a:ext cx="180000" cy="180000"/>
          </a:xfrm>
          <a:prstGeom prst="ellipse">
            <a:avLst/>
          </a:prstGeom>
          <a:solidFill>
            <a:srgbClr val="FFFFC9"/>
          </a:solidFill>
          <a:ln>
            <a:solidFill>
              <a:srgbClr val="FFFFAF"/>
            </a:solidFill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六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、典型问题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203598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生产者</a:t>
              </a:r>
              <a:r>
                <a:rPr lang="en-US" altLang="zh-CN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消费者问题（有限缓冲问题）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5884" y="1680359"/>
            <a:ext cx="741852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有一群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生产者进程在生产产品，并将这些产品提供给消费者进程去消费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为使生产者进程与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消费者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进程能并发执行，在两者之间设置了一个具有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个缓冲区的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缓冲池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生产者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进程将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它所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生产的产品放入一个缓冲区中；消费者进程可从一个缓冲区中取走产品去消费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允许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消费者进程到一个空缓冲区去取产品，也不允许生产者进程向一个已装满产品且尚未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被取走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的缓冲区中投放产品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六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、典型问题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生产者消费者解决方案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1521248"/>
            <a:ext cx="7439025" cy="32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六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、典型问题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读者</a:t>
              </a:r>
              <a:r>
                <a:rPr lang="en-US" altLang="zh-CN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写者问题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5883" y="1521247"/>
            <a:ext cx="74185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一个数据文件或记录，可被多个进程共享， 我们把只要求读该文件的进程称为 “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Reader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” ，其他进程则称为 “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Writer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进程”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允许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多个进程同时读一个共享对象，因为读操作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使数据文件混乱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但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不允许一个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Writer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进程和其他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Reader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进程或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Writer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进程同时访问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共享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对象，因为这种访问将会引起混乱。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六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、典型问题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读者</a:t>
              </a:r>
              <a:r>
                <a:rPr lang="en-US" altLang="zh-CN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写者问题解决方案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825883" y="1521247"/>
            <a:ext cx="74185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readcount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：正在读数据的任务数 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wmutex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：负责写互斥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rmutex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：读者进程间互斥访问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readcount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5883" y="2291263"/>
            <a:ext cx="353009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读进程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wait(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if(0==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readcount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 wait(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readcount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++;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up(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reading;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wait(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readcount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--;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if(0==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readcount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 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up(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up(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99992" y="2301648"/>
            <a:ext cx="35300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写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wait(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writing;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up(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);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GB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六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、典型问题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哲学家就餐问题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21247"/>
            <a:ext cx="7022481" cy="3210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六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、典型问题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哲学家就餐问题解决方案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25883" y="1521247"/>
            <a:ext cx="74185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初步解决方案：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mutex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chopstick[5]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全部初始化为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则：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wait(chopstick[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]);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wait(chopstick[(i+1)%5]);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eat();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signal(chopstick[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]);</a:t>
            </a: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signal(chopstick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[(i+1)%5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]);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think();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死锁可能？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解决方法：至多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只允许有四位哲学家同时去拿左边的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筷子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3704" y="125219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六</a:t>
            </a:r>
            <a:r>
              <a:rPr lang="zh-CN" alt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、典型问题</a:t>
            </a:r>
            <a:endParaRPr lang="zh-CN" alt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5883" y="1059582"/>
            <a:ext cx="5832648" cy="461665"/>
            <a:chOff x="1619672" y="1822053"/>
            <a:chExt cx="58326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71700" y="1822053"/>
              <a:ext cx="5580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rgbClr val="66CCFF"/>
                  </a:solidFill>
                  <a:latin typeface="微软雅黑" pitchFamily="34" charset="-122"/>
                  <a:ea typeface="微软雅黑" pitchFamily="34" charset="-122"/>
                </a:rPr>
                <a:t>哲学家就餐问题解决方案</a:t>
              </a:r>
              <a:endParaRPr lang="zh-CN" altLang="en-US" sz="2400" dirty="0" smtClean="0">
                <a:solidFill>
                  <a:srgbClr val="66CC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1619672" y="1971476"/>
              <a:ext cx="252000" cy="252000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>
              <a:outerShdw blurRad="50800" dist="50800" dir="2700000" algn="tl" rotWithShape="0">
                <a:schemeClr val="tx1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 extrusionH="76200">
              <a:bevelT w="228600"/>
              <a:extrusionClr>
                <a:srgbClr val="808080"/>
              </a:extrusionClr>
              <a:contourClr>
                <a:srgbClr val="FF2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83" y="1521247"/>
            <a:ext cx="7490533" cy="3282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.jpg"/>
          <p:cNvPicPr>
            <a:picLocks noChangeAspect="1"/>
          </p:cNvPicPr>
          <p:nvPr/>
        </p:nvPicPr>
        <p:blipFill>
          <a:blip r:embed="rId1" cstate="print"/>
          <a:srcRect r="2304" b="7492"/>
          <a:stretch>
            <a:fillRect/>
          </a:stretch>
        </p:blipFill>
        <p:spPr>
          <a:xfrm>
            <a:off x="-36512" y="0"/>
            <a:ext cx="9180512" cy="5143500"/>
          </a:xfrm>
          <a:prstGeom prst="rect">
            <a:avLst/>
          </a:prstGeom>
        </p:spPr>
      </p:pic>
      <p:pic>
        <p:nvPicPr>
          <p:cNvPr id="6" name="图片 5" descr="黑板-空.png"/>
          <p:cNvPicPr>
            <a:picLocks noChangeAspect="1"/>
          </p:cNvPicPr>
          <p:nvPr/>
        </p:nvPicPr>
        <p:blipFill>
          <a:blip r:embed="rId2" cstate="print"/>
          <a:srcRect l="19395" t="4956" b="17785"/>
          <a:stretch>
            <a:fillRect/>
          </a:stretch>
        </p:blipFill>
        <p:spPr>
          <a:xfrm>
            <a:off x="269776" y="23895"/>
            <a:ext cx="8604449" cy="4580157"/>
          </a:xfrm>
          <a:prstGeom prst="rect">
            <a:avLst/>
          </a:prstGeom>
        </p:spPr>
      </p:pic>
      <p:pic>
        <p:nvPicPr>
          <p:cNvPr id="8" name="图片 7" descr="叶子.png"/>
          <p:cNvPicPr>
            <a:picLocks noChangeAspect="1"/>
          </p:cNvPicPr>
          <p:nvPr/>
        </p:nvPicPr>
        <p:blipFill>
          <a:blip r:embed="rId3" cstate="print"/>
          <a:srcRect l="54369" b="60821"/>
          <a:stretch>
            <a:fillRect/>
          </a:stretch>
        </p:blipFill>
        <p:spPr>
          <a:xfrm>
            <a:off x="6084168" y="0"/>
            <a:ext cx="3059832" cy="1707654"/>
          </a:xfrm>
          <a:prstGeom prst="rect">
            <a:avLst/>
          </a:prstGeom>
        </p:spPr>
      </p:pic>
      <p:pic>
        <p:nvPicPr>
          <p:cNvPr id="16" name="图片 15" descr="桌子.png"/>
          <p:cNvPicPr>
            <a:picLocks noChangeAspect="1"/>
          </p:cNvPicPr>
          <p:nvPr/>
        </p:nvPicPr>
        <p:blipFill>
          <a:blip r:embed="rId4" cstate="print"/>
          <a:srcRect t="80530" r="40938"/>
          <a:stretch>
            <a:fillRect/>
          </a:stretch>
        </p:blipFill>
        <p:spPr>
          <a:xfrm>
            <a:off x="-36512" y="4294870"/>
            <a:ext cx="3960440" cy="848630"/>
          </a:xfrm>
          <a:prstGeom prst="rect">
            <a:avLst/>
          </a:prstGeom>
        </p:spPr>
      </p:pic>
      <p:pic>
        <p:nvPicPr>
          <p:cNvPr id="17" name="图片 16" descr="粉笔画.png"/>
          <p:cNvPicPr>
            <a:picLocks noChangeAspect="1"/>
          </p:cNvPicPr>
          <p:nvPr/>
        </p:nvPicPr>
        <p:blipFill>
          <a:blip r:embed="rId5" cstate="print"/>
          <a:srcRect l="49934" t="39179" b="17915"/>
          <a:stretch>
            <a:fillRect/>
          </a:stretch>
        </p:blipFill>
        <p:spPr>
          <a:xfrm>
            <a:off x="5184068" y="2537826"/>
            <a:ext cx="3357242" cy="1870128"/>
          </a:xfrm>
          <a:prstGeom prst="rect">
            <a:avLst/>
          </a:prstGeom>
        </p:spPr>
      </p:pic>
      <p:pic>
        <p:nvPicPr>
          <p:cNvPr id="12" name="图片 11" descr="书本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1540" y="4011910"/>
            <a:ext cx="1053034" cy="900000"/>
          </a:xfrm>
          <a:prstGeom prst="rect">
            <a:avLst/>
          </a:prstGeom>
        </p:spPr>
      </p:pic>
      <p:pic>
        <p:nvPicPr>
          <p:cNvPr id="15" name="图片 14" descr="钟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62386" y="4272318"/>
            <a:ext cx="536449" cy="512065"/>
          </a:xfrm>
          <a:prstGeom prst="rect">
            <a:avLst/>
          </a:prstGeom>
        </p:spPr>
      </p:pic>
      <p:pic>
        <p:nvPicPr>
          <p:cNvPr id="11" name="图片 10" descr="铅笔筒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20426" y="4031525"/>
            <a:ext cx="710185" cy="768098"/>
          </a:xfrm>
          <a:prstGeom prst="rect">
            <a:avLst/>
          </a:prstGeom>
        </p:spPr>
      </p:pic>
      <p:pic>
        <p:nvPicPr>
          <p:cNvPr id="14" name="图片 13" descr="眼镜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98136" y="4658383"/>
            <a:ext cx="546415" cy="252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63888" y="3435846"/>
            <a:ext cx="213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方正毡笔黑简体" pitchFamily="65" charset="-122"/>
                <a:ea typeface="方正毡笔黑简体" pitchFamily="65" charset="-122"/>
              </a:rPr>
              <a:t>主讲：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方正毡笔黑简体" pitchFamily="65" charset="-122"/>
                <a:ea typeface="方正毡笔黑简体" pitchFamily="65" charset="-122"/>
              </a:rPr>
              <a:t>王永明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方正毡笔黑简体" pitchFamily="65" charset="-122"/>
              <a:ea typeface="方正毡笔黑简体" pitchFamily="65" charset="-122"/>
            </a:endParaRPr>
          </a:p>
        </p:txBody>
      </p:sp>
      <p:sp>
        <p:nvSpPr>
          <p:cNvPr id="34" name="矩形 33"/>
          <p:cNvSpPr/>
          <p:nvPr/>
        </p:nvSpPr>
        <p:spPr>
          <a:xfrm rot="21311365">
            <a:off x="907006" y="1030578"/>
            <a:ext cx="500970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扣扣</a:t>
            </a:r>
            <a:r>
              <a:rPr lang="zh-CN" altLang="en-US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：</a:t>
            </a:r>
            <a:r>
              <a:rPr lang="en-US" altLang="zh-CN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华文新魏" panose="02010800040101010101" pitchFamily="2" charset="-122"/>
                <a:ea typeface="华文新魏" panose="02010800040101010101" pitchFamily="2" charset="-122"/>
              </a:rPr>
              <a:t>2390312790</a:t>
            </a:r>
            <a:endParaRPr lang="zh-CN" altLang="en-US" sz="4400" b="0" cap="none" spc="0" dirty="0">
              <a:ln w="18415" cmpd="sng">
                <a:solidFill>
                  <a:srgbClr val="FFFFFF"/>
                </a:solidFill>
                <a:prstDash val="solid"/>
              </a:ln>
              <a:blipFill dpi="0" rotWithShape="1">
                <a:blip r:embed="rId10">
                  <a:alphaModFix amt="80000"/>
                </a:blip>
                <a:srcRect/>
                <a:tile tx="0" ty="0" sx="100000" sy="100000" flip="none" algn="tl"/>
              </a:blip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 rot="21311365">
            <a:off x="952428" y="1666820"/>
            <a:ext cx="51267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手机</a:t>
            </a:r>
            <a:r>
              <a:rPr lang="zh-CN" altLang="en-US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：</a:t>
            </a:r>
            <a:r>
              <a:rPr lang="en-US" altLang="zh-CN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华文新魏" panose="02010800040101010101" pitchFamily="2" charset="-122"/>
                <a:ea typeface="华文新魏" panose="02010800040101010101" pitchFamily="2" charset="-122"/>
              </a:rPr>
              <a:t>15951715350</a:t>
            </a:r>
            <a:endParaRPr lang="zh-CN" altLang="en-US" sz="4400" b="0" cap="none" spc="0" dirty="0">
              <a:ln w="18415" cmpd="sng">
                <a:solidFill>
                  <a:srgbClr val="FFFFFF"/>
                </a:solidFill>
                <a:prstDash val="solid"/>
              </a:ln>
              <a:blipFill dpi="0" rotWithShape="1">
                <a:blip r:embed="rId10">
                  <a:alphaModFix amt="80000"/>
                </a:blip>
                <a:srcRect/>
                <a:tile tx="0" ty="0" sx="100000" sy="100000" flip="none" algn="tl"/>
              </a:blip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 rot="21311365">
            <a:off x="991542" y="2314892"/>
            <a:ext cx="69958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方正毡笔黑简体" pitchFamily="65" charset="-122"/>
                <a:ea typeface="方正毡笔黑简体" pitchFamily="65" charset="-122"/>
              </a:rPr>
              <a:t>博客：</a:t>
            </a:r>
            <a:r>
              <a:rPr lang="en-US" altLang="zh-CN" sz="3200" dirty="0" smtClean="0">
                <a:blipFill dpi="0" rotWithShape="1">
                  <a:blip r:embed="rId10">
                    <a:alphaModFix amt="80000"/>
                  </a:blip>
                  <a:srcRect/>
                  <a:tile tx="0" ty="0" sx="100000" sy="100000" flip="none" algn="tl"/>
                </a:blipFill>
                <a:latin typeface="华文新魏" panose="02010800040101010101" pitchFamily="2" charset="-122"/>
                <a:ea typeface="华文新魏" panose="02010800040101010101" pitchFamily="2" charset="-122"/>
              </a:rPr>
              <a:t>hirowang.blog.chinaunix.net</a:t>
            </a:r>
            <a:endParaRPr lang="zh-CN" altLang="en-US" sz="3200" b="0" cap="none" spc="0" dirty="0">
              <a:ln w="18415" cmpd="sng">
                <a:solidFill>
                  <a:srgbClr val="FFFFFF"/>
                </a:solidFill>
                <a:prstDash val="solid"/>
              </a:ln>
              <a:blipFill dpi="0" rotWithShape="1">
                <a:blip r:embed="rId10">
                  <a:alphaModFix amt="80000"/>
                </a:blip>
                <a:srcRect/>
                <a:tile tx="0" ty="0" sx="100000" sy="100000" flip="none" algn="tl"/>
              </a:blip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板组合">
      <a:majorFont>
        <a:latin typeface="Informal Roman"/>
        <a:ea typeface="方正毡笔黑简体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chemeClr val="bg1">
                <a:lumMod val="95000"/>
              </a:schemeClr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5753</Words>
  <Application>WPS Presentation</Application>
  <PresentationFormat>全屏显示(16:9)</PresentationFormat>
  <Paragraphs>548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方正毡笔黑简体</vt:lpstr>
      <vt:lpstr>Indeal Pro 1.23</vt:lpstr>
      <vt:lpstr>华文新魏</vt:lpstr>
      <vt:lpstr>Droid Sans Fallback</vt:lpstr>
      <vt:lpstr>DejaVu Sans</vt:lpstr>
      <vt:lpstr>Gubbi</vt:lpstr>
      <vt:lpstr>宋体</vt:lpstr>
      <vt:lpstr>Arial Unicode MS</vt:lpstr>
      <vt:lpstr>Informal Roman</vt:lpstr>
      <vt:lpstr>Calibri</vt:lpstr>
      <vt:lpstr>OpenSymbol</vt:lpstr>
      <vt:lpstr>Noto Serif CJK JP</vt:lpstr>
      <vt:lpstr>Abyssinica SIL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王永明</dc:creator>
  <cp:lastModifiedBy>idiot</cp:lastModifiedBy>
  <cp:revision>169</cp:revision>
  <dcterms:created xsi:type="dcterms:W3CDTF">2019-04-03T13:54:52Z</dcterms:created>
  <dcterms:modified xsi:type="dcterms:W3CDTF">2019-04-03T13:54:52Z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